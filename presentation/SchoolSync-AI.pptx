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B1F24"/>
                </a:solidFill>
              </a:defRPr>
            </a:pPr>
            <a:r>
              <a:t>SchoolSync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573"/>
                </a:solidFill>
              </a:defRPr>
            </a:pPr>
            <a:r>
              <a:t>Turn a school calendar PDF into reviewed, duplicate-safe calendar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</a:defRPr>
            </a:pPr>
            <a:r>
              <a:t>• Parents re-type school calendars by hand: dates, half days and closures, every year.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</a:defRPr>
            </a:pPr>
            <a:r>
              <a:t>• PDFs encode meaning in colour and layout: a legend says which colour means 'half day'.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</a:defRPr>
            </a:pPr>
            <a:r>
              <a:t>• A wrong date or an invented time on your calendar is worse than no event.</a:t>
            </a:r>
          </a:p>
          <a:p>
            <a:pPr>
              <a:spcAft>
                <a:spcPts val="600"/>
              </a:spcAft>
              <a:defRPr sz="2200" b="0">
                <a:solidFill>
                  <a:srgbClr val="1B1F24"/>
                </a:solidFill>
              </a:defRPr>
            </a:pPr>
            <a:r>
              <a:t>• Goal: extract with evidence, flag what is uncertain, and never write without confirmation.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B1F24"/>
                </a:solidFill>
              </a:defRPr>
            </a:pPr>
            <a:r>
              <a:t>Product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1691640" cy="118872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Upload PDF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48840" y="2971800"/>
            <a:ext cx="228600" cy="0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77440" y="2377440"/>
            <a:ext cx="1691640" cy="118872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Detect grid, legend, colours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69080" y="2971800"/>
            <a:ext cx="228600" cy="0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97680" y="2377440"/>
            <a:ext cx="1691640" cy="118872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Review + resolve uncertainty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2971800"/>
            <a:ext cx="228600" cy="0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2377440"/>
            <a:ext cx="1691640" cy="118872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Duplicate 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09560" y="2971800"/>
            <a:ext cx="228600" cy="0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60" y="2377440"/>
            <a:ext cx="1691640" cy="118872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Preview 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29800" y="2971800"/>
            <a:ext cx="228600" cy="0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0" y="2377440"/>
            <a:ext cx="1691640" cy="118872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Confirm, export or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</a:defRPr>
            </a:pPr>
            <a:r>
              <a:t>• Every event keeps its source page, cell and printed text.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</a:defRPr>
            </a:pPr>
            <a:r>
              <a:t>• Ambiguous events cannot be exported or synced until a person resolves them.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</a:defRPr>
            </a:pPr>
            <a:r>
              <a:t>• ICS/CSV download works with no account; sync needs explicit confirmation of the exact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B1F24"/>
                </a:solidFill>
              </a:defRPr>
            </a:pPr>
            <a:r>
              <a:t>Architecture (as built)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573"/>
                </a:solidFill>
              </a:defRPr>
            </a:pPr>
            <a:r>
              <a:t>Modular monolith; demo hosted on Vercel + AWS Lambda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194560" cy="109728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Browser UI</a:t>
            </a:r>
          </a:p>
          <a:p>
            <a:pPr algn="ctr">
              <a:defRPr sz="1400">
                <a:solidFill>
                  <a:srgbClr val="1B1F24"/>
                </a:solidFill>
              </a:defRPr>
            </a:pPr>
            <a:r>
              <a:t>Next.js, TypeScript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011680"/>
            <a:ext cx="2194560" cy="109728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Vercel /api proxy</a:t>
            </a:r>
          </a:p>
          <a:p>
            <a:pPr algn="ctr">
              <a:defRPr sz="1400">
                <a:solidFill>
                  <a:srgbClr val="1B1F24"/>
                </a:solidFill>
              </a:defRPr>
            </a:pPr>
            <a:r>
              <a:t>adds API key server-side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2651760" cy="109728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FastAPI on Lambda</a:t>
            </a:r>
          </a:p>
          <a:p>
            <a:pPr algn="ctr">
              <a:defRPr sz="1400">
                <a:solidFill>
                  <a:srgbClr val="1B1F24"/>
                </a:solidFill>
              </a:defRPr>
            </a:pPr>
            <a:r>
              <a:t>(container image)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011680"/>
            <a:ext cx="2377440" cy="109728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SQLite</a:t>
            </a:r>
          </a:p>
          <a:p>
            <a:pPr algn="ctr">
              <a:defRPr sz="1400">
                <a:solidFill>
                  <a:srgbClr val="1B1F24"/>
                </a:solidFill>
              </a:defRPr>
            </a:pPr>
            <a:r>
              <a:t>imports + manifest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749039"/>
            <a:ext cx="2651760" cy="91440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PDF: PyMuPDF, grid, legend, colour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749039"/>
            <a:ext cx="2377440" cy="91440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Providers: file, mock, Google*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560320"/>
            <a:ext cx="548640" cy="0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2560320"/>
            <a:ext cx="548640" cy="0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2560320"/>
            <a:ext cx="548640" cy="0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3108960"/>
            <a:ext cx="0" cy="640079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6800" y="2926080"/>
            <a:ext cx="822960" cy="822959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573"/>
                </a:solidFill>
              </a:defRPr>
            </a:pPr>
            <a:r>
              <a:t>• *Google adapter is tested against mocked HTTP only; Microsoft is not implemented.</a:t>
            </a:r>
          </a:p>
          <a:p>
            <a:pPr>
              <a:spcAft>
                <a:spcPts val="600"/>
              </a:spcAft>
              <a:defRPr sz="1600" b="0">
                <a:solidFill>
                  <a:srgbClr val="5B6573"/>
                </a:solidFill>
              </a:defRPr>
            </a:pPr>
            <a:r>
              <a:t>• No LLM is used. Dates, identity, duplicates and sync are deterministic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B1F24"/>
                </a:solidFill>
              </a:defRPr>
            </a:pPr>
            <a:r>
              <a:t>Reading the grid, legend and colours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1F24"/>
                </a:solidFill>
              </a:defRPr>
            </a:pPr>
            <a:r>
              <a:t>• Find 'Month YYYY' and 7 weekday labels; compute each cell's date from position.</a:t>
            </a:r>
          </a:p>
          <a:p>
            <a:pPr>
              <a:spcAft>
                <a:spcPts val="600"/>
              </a:spcAft>
              <a:defRPr sz="1800" b="0">
                <a:solidFill>
                  <a:srgbClr val="1B1F24"/>
                </a:solidFill>
              </a:defRPr>
            </a:pPr>
            <a:r>
              <a:t>• Cross-check against the day number printed in the cell. Mismatch = reported, never shifted.</a:t>
            </a:r>
          </a:p>
          <a:p>
            <a:pPr>
              <a:spcAft>
                <a:spcPts val="600"/>
              </a:spcAft>
              <a:defRPr sz="1800" b="0">
                <a:solidFill>
                  <a:srgbClr val="1B1F24"/>
                </a:solidFill>
              </a:defRPr>
            </a:pPr>
            <a:r>
              <a:t>• Legend: small square swatches plus the label printed beside them.</a:t>
            </a:r>
          </a:p>
          <a:p>
            <a:pPr>
              <a:spcAft>
                <a:spcPts val="600"/>
              </a:spcAft>
              <a:defRPr sz="1800" b="0">
                <a:solidFill>
                  <a:srgbClr val="1B1F24"/>
                </a:solidFill>
              </a:defRPr>
            </a:pPr>
            <a:r>
              <a:t>• Match cell colour to legend with CIE76 Delta E and a tolerance, not exact RGB.</a:t>
            </a:r>
          </a:p>
          <a:p>
            <a:pPr>
              <a:spcAft>
                <a:spcPts val="600"/>
              </a:spcAft>
              <a:defRPr sz="1800" b="0">
                <a:solidFill>
                  <a:srgbClr val="1B1F24"/>
                </a:solidFill>
              </a:defRPr>
            </a:pPr>
            <a:r>
              <a:t>• Nothing is hard-coded: 'red = holiday' is never assumed.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4937760" cy="822960"/>
          </a:xfrm>
          <a:prstGeom prst="roundRect">
            <a:avLst/>
          </a:prstGeom>
          <a:solidFill>
            <a:srgbClr val="FFF1D6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Unlisted colour, no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4231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8A5A00"/>
                </a:solidFill>
              </a:defRPr>
            </a:pPr>
            <a:r>
              <a:t>-&gt; ambiguous, untitled placeholder, needs a person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200400"/>
            <a:ext cx="4937760" cy="822960"/>
          </a:xfrm>
          <a:prstGeom prst="roundRect">
            <a:avLst/>
          </a:prstGeom>
          <a:solidFill>
            <a:srgbClr val="FFF1D6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Text says 'Early Release', legend colour says 'Closed'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069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8A5A00"/>
                </a:solidFill>
              </a:defRPr>
            </a:pPr>
            <a:r>
              <a:t>-&gt; conflict flagged, not resolved silently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9377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B6573"/>
                </a:solidFill>
              </a:defRPr>
            </a:pPr>
            <a:r>
              <a:t>Not handled: scanned pages (flagged, skipped), stroked-line grids, icon/pattern legends.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B1F24"/>
                </a:solidFill>
              </a:defRPr>
            </a:pPr>
            <a:r>
              <a:t>Full day, half day and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</a:defRPr>
            </a:pPr>
            <a:r>
              <a:t>• Explicit text wins: 'Half Day', 'Early Dismissal/Release', 'No School', 'Closed', 'Recess'.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</a:defRPr>
            </a:pPr>
            <a:r>
              <a:t>• A printed time is kept (dismissal time for half days; start time for timed events).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</a:defRPr>
            </a:pPr>
            <a:r>
              <a:t>• Half day with no printed time stays time-unknown and blocks export. No assumed noon.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</a:defRPr>
            </a:pPr>
            <a:r>
              <a:t>• Only the user can supply a school start time; it is then labelled user-supplied.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</a:defRPr>
            </a:pPr>
            <a:r>
              <a:t>• Without it, a half day exports as an all-day event with the dismissal time in the title.</a:t>
            </a:r>
          </a:p>
          <a:p>
            <a:pPr>
              <a:spcAft>
                <a:spcPts val="600"/>
              </a:spcAft>
              <a:defRPr sz="2000" b="0">
                <a:solidFill>
                  <a:srgbClr val="1B1F24"/>
                </a:solidFill>
              </a:defRPr>
            </a:pPr>
            <a:r>
              <a:t>• Uncertainty is shown per event (status + reasons), not as one confidence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B1F24"/>
                </a:solidFill>
              </a:defRPr>
            </a:pPr>
            <a:r>
              <a:t>Duplicate-safe sync and provider adapters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• Stable id = school + year + start date; survives a revised PDF.</a:t>
            </a:r>
          </a:p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• Layer A: ours (owner property / manifest). B: identical, not ours: skip. C: look-alike: conflict.</a:t>
            </a:r>
          </a:p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• Only events we created are ever updated or deleted. Removals are proposed, not executed.</a:t>
            </a:r>
          </a:p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• Retries re-check the owner id first, so a lost response cannot create a twin.</a:t>
            </a:r>
          </a:p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• Confirmation is bound to the previewed plan; changes since then are rejected (409).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731520"/>
          </a:xfrm>
          <a:prstGeom prst="roundRect">
            <a:avLst/>
          </a:prstGeom>
          <a:solidFill>
            <a:srgbClr val="1F5FBF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CalendarProvider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651760"/>
            <a:ext cx="4572000" cy="73152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File export (ICS/CSV): tested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520439"/>
            <a:ext cx="4572000" cy="73152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Mock calendar: tested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389120"/>
            <a:ext cx="4572000" cy="73152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Google Calendar: mocked HTTP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5257800"/>
            <a:ext cx="4572000" cy="731520"/>
          </a:xfrm>
          <a:prstGeom prst="roundRect">
            <a:avLst/>
          </a:prstGeom>
          <a:solidFill>
            <a:srgbClr val="EEF2F8"/>
          </a:solidFill>
          <a:ln>
            <a:solidFill>
              <a:srgbClr val="1F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B1F24"/>
                </a:solidFill>
              </a:defRPr>
            </a:pPr>
            <a:r>
              <a:t>Microsoft Graph: not implemented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B1F24"/>
                </a:solidFill>
              </a:defRPr>
            </a:pPr>
            <a:r>
              <a:t>Security, privacy and OAuth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B1F24"/>
                </a:solidFill>
              </a:defRPr>
            </a:pPr>
            <a:r>
              <a:t>• Uploads are untrusted: magic bytes, size and page caps, full parse, encrypted PDFs rejected.</a:t>
            </a:r>
          </a:p>
          <a:p>
            <a:pPr>
              <a:spcAft>
                <a:spcPts val="600"/>
              </a:spcAft>
              <a:defRPr sz="1900" b="0">
                <a:solidFill>
                  <a:srgbClr val="1B1F24"/>
                </a:solidFill>
              </a:defRPr>
            </a:pPr>
            <a:r>
              <a:t>• Public demo: API key required, held only on the Vercel server; synthetic data only.</a:t>
            </a:r>
          </a:p>
          <a:p>
            <a:pPr>
              <a:spcAft>
                <a:spcPts val="600"/>
              </a:spcAft>
              <a:defRPr sz="1900" b="0">
                <a:solidFill>
                  <a:srgbClr val="1B1F24"/>
                </a:solidFill>
              </a:defRPr>
            </a:pPr>
            <a:r>
              <a:t>• OAuth: single-use state, PKCE S256, least-privilege scopes; tokens Fernet-encrypted; never logged.</a:t>
            </a:r>
          </a:p>
          <a:p>
            <a:pPr>
              <a:spcAft>
                <a:spcPts val="600"/>
              </a:spcAft>
              <a:defRPr sz="1900" b="0">
                <a:solidFill>
                  <a:srgbClr val="1B1F24"/>
                </a:solidFill>
              </a:defRPr>
            </a:pPr>
            <a:r>
              <a:t>• Server re-checks readiness; CSV cells are protected against formula injection.</a:t>
            </a:r>
          </a:p>
          <a:p>
            <a:pPr>
              <a:spcAft>
                <a:spcPts val="600"/>
              </a:spcAft>
              <a:defRPr sz="1900" b="0">
                <a:solidFill>
                  <a:srgbClr val="1B1F24"/>
                </a:solidFill>
              </a:defRPr>
            </a:pPr>
            <a:r>
              <a:t>• Known gaps: no user accounts or isolation; no retention job; Gitleaks CI never run; PyMuPDF is native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B1F24"/>
                </a:solidFill>
              </a:defRPr>
            </a:pPr>
            <a:r>
              <a:t>Evaluation: actual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573"/>
                </a:solidFill>
              </a:defRPr>
            </a:pPr>
            <a:r>
              <a:t>3 synthetic PDFs, 26 labelled events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6766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maple_grove_2025_26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riverbend_2027_28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cedar_hill_2025_26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Category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Full/half/timed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Status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Source evidence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Needs-review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645920"/>
            <a:ext cx="4114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1F24"/>
                </a:solidFill>
              </a:defRPr>
            </a:pPr>
            <a:r>
              <a:t>• Backend: 104 pytest tests. Frontend: 5 unit tests + 1 browser e2e (also run against the live deployment).</a:t>
            </a:r>
          </a:p>
          <a:p>
            <a:pPr>
              <a:spcAft>
                <a:spcPts val="600"/>
              </a:spcAft>
              <a:defRPr sz="1500" b="0">
                <a:solidFill>
                  <a:srgbClr val="1B1F24"/>
                </a:solidFill>
              </a:defRPr>
            </a:pPr>
            <a:r>
              <a:t>• Caveat: fixtures share an author and drawing code: a baseline, not real-world accuracy. On a REAL school calendar (list-style, 2 months/page) the extractor found 0 events; see docs.</a:t>
            </a:r>
          </a:p>
          <a:p>
            <a:pPr>
              <a:spcAft>
                <a:spcPts val="600"/>
              </a:spcAft>
              <a:defRPr sz="1500" b="0">
                <a:solidFill>
                  <a:srgbClr val="1B1F24"/>
                </a:solidFill>
              </a:defRPr>
            </a:pPr>
            <a:r>
              <a:t>• Duplicate-create rate on re-import: 0 in tests against the mock provider.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B1F24"/>
                </a:solidFill>
              </a:defRPr>
            </a:pPr>
            <a:r>
              <a:t>AWS deployment mapping and cost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B1F24"/>
                </a:solidFill>
              </a:defRPr>
            </a:pPr>
            <a:r>
              <a:t>• Deployed: Vercel frontend -&gt; Lambda container (Function URL) -&gt; in-memory/ephemeral SQLite.</a:t>
            </a:r>
          </a:p>
          <a:p>
            <a:pPr>
              <a:spcAft>
                <a:spcPts val="600"/>
              </a:spcAft>
              <a:defRPr sz="1600" b="0">
                <a:solidFill>
                  <a:srgbClr val="1B1F24"/>
                </a:solidFill>
              </a:defRPr>
            </a:pPr>
            <a:r>
              <a:t>• CloudFormation: ECR, Lambda, logs-only IAM role, 14-day logs, $5 budget alert.</a:t>
            </a:r>
          </a:p>
          <a:p>
            <a:pPr>
              <a:spcAft>
                <a:spcPts val="600"/>
              </a:spcAft>
              <a:defRPr sz="1600" b="0">
                <a:solidFill>
                  <a:srgbClr val="1B1F24"/>
                </a:solidFill>
              </a:defRPr>
            </a:pPr>
            <a:r>
              <a:t>• Account is Paid plan with $0 credits, so Lambda's always-free tier was chosen over EC2/App Runner/ALB.</a:t>
            </a:r>
          </a:p>
          <a:p>
            <a:pPr>
              <a:spcAft>
                <a:spcPts val="600"/>
              </a:spcAft>
              <a:defRPr sz="1600" b="0">
                <a:solidFill>
                  <a:srgbClr val="1B1F24"/>
                </a:solidFill>
              </a:defRPr>
            </a:pPr>
            <a:r>
              <a:t>• Cost: not measured; expected pennies. Budget email alerts but cannot stop spend.</a:t>
            </a:r>
          </a:p>
          <a:p>
            <a:pPr>
              <a:spcAft>
                <a:spcPts val="600"/>
              </a:spcAft>
              <a:defRPr sz="1600" b="0">
                <a:solidFill>
                  <a:srgbClr val="1B1F24"/>
                </a:solidFill>
              </a:defRPr>
            </a:pPr>
            <a:r>
              <a:t>• Measured: ~20 s cold start on first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B1F24"/>
                </a:solidFill>
              </a:defRPr>
            </a:pPr>
            <a:r>
              <a:t>Production shape (documented, not built):</a:t>
            </a:r>
          </a:p>
          <a:p>
            <a:pPr>
              <a:spcAft>
                <a:spcPts val="600"/>
              </a:spcAft>
              <a:defRPr sz="1600" b="0">
                <a:solidFill>
                  <a:srgbClr val="1B1F24"/>
                </a:solidFill>
              </a:defRPr>
            </a:pPr>
            <a:r>
              <a:t>ECS Fargate + ALB + RDS/Aurora + Secrets Manager + IAM task roles + CloudWatch.</a:t>
            </a:r>
          </a:p>
          <a:p>
            <a:pPr>
              <a:spcAft>
                <a:spcPts val="600"/>
              </a:spcAft>
              <a:defRPr sz="1600" b="0">
                <a:solidFill>
                  <a:srgbClr val="1B1F24"/>
                </a:solidFill>
              </a:defRPr>
            </a:pPr>
            <a:r>
              <a:t>Needed first: user accounts, durable storage, a real secret store, retention.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B1F24"/>
                </a:solidFill>
              </a:defRPr>
            </a:pPr>
            <a:r>
              <a:t>Trade-offs, limitations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• Trade-offs: deterministic rules (reproducible, narrower) over an LLM; blocking uncertain events over guessing.</a:t>
            </a:r>
          </a:p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• Limitations: tested layouts only (real list-style calendar unsupported); no OCR; Google unverified; Microsoft missing; no accounts.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Roadmap:</a:t>
            </a:r>
          </a:p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OCR + OpenCV grid detection for scans.</a:t>
            </a:r>
          </a:p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Real Google test-calendar run; Microsoft Graph adapter.</a:t>
            </a:r>
          </a:p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Source-page crop preview, settings page, retention.</a:t>
            </a:r>
          </a:p>
          <a:p>
            <a:pPr>
              <a:spcAft>
                <a:spcPts val="600"/>
              </a:spcAft>
              <a:defRPr sz="1700" b="0">
                <a:solidFill>
                  <a:srgbClr val="1B1F24"/>
                </a:solidFill>
              </a:defRPr>
            </a:pPr>
            <a:r>
              <a:t>Support list-style, multi-month real calendars; evaluate on consented real 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